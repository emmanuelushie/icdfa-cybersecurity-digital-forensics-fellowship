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JetBrains Mono"/>
      <p:regular r:id="rId20"/>
    </p:embeddedFont>
    <p:embeddedFont>
      <p:font typeface="Plus Jakarta Sans"/>
      <p:italic r:id="rId21"/>
    </p:embeddedFont>
    <p:embeddedFont>
      <p:font typeface="Space Grotesk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16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23184"/>
            <a:ext cx="11125200" cy="1238250"/>
          </a:xfrm>
          <a:prstGeom prst="roundRect">
            <a:avLst>
              <a:gd name="adj" fmla="val 7692"/>
            </a:avLst>
          </a:prstGeom>
          <a:solidFill>
            <a:srgbClr val="11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57652"/>
            <a:ext cx="12192000" cy="400050"/>
          </a:xfrm>
          <a:prstGeom prst="rect">
            <a:avLst/>
          </a:prstGeom>
          <a:solidFill>
            <a:srgbClr val="070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96575" y="1115317"/>
            <a:ext cx="962025" cy="285750"/>
          </a:xfrm>
          <a:prstGeom prst="roundRect">
            <a:avLst>
              <a:gd name="adj" fmla="val 20000"/>
            </a:avLst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5751909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4523184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523184"/>
            <a:ext cx="47625" cy="123825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9075" y="4523184"/>
            <a:ext cx="9525" cy="12382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457652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0575" y="4980384"/>
            <a:ext cx="2023169" cy="619125"/>
          </a:xfrm>
          <a:prstGeom prst="roundRect">
            <a:avLst>
              <a:gd name="adj" fmla="val 12307"/>
            </a:avLst>
          </a:prstGeom>
          <a:solidFill>
            <a:srgbClr val="0A11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7094" y="4980384"/>
            <a:ext cx="2023169" cy="619125"/>
          </a:xfrm>
          <a:prstGeom prst="roundRect">
            <a:avLst>
              <a:gd name="adj" fmla="val 12307"/>
            </a:avLst>
          </a:prstGeom>
          <a:solidFill>
            <a:srgbClr val="0A11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03614" y="4980384"/>
            <a:ext cx="2023169" cy="619125"/>
          </a:xfrm>
          <a:prstGeom prst="roundRect">
            <a:avLst>
              <a:gd name="adj" fmla="val 12307"/>
            </a:avLst>
          </a:prstGeom>
          <a:solidFill>
            <a:srgbClr val="0A11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0133" y="4980384"/>
            <a:ext cx="2023169" cy="619125"/>
          </a:xfrm>
          <a:prstGeom prst="roundRect">
            <a:avLst>
              <a:gd name="adj" fmla="val 12307"/>
            </a:avLst>
          </a:prstGeom>
          <a:solidFill>
            <a:srgbClr val="0A11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16653" y="4980384"/>
            <a:ext cx="2023169" cy="619125"/>
          </a:xfrm>
          <a:prstGeom prst="roundRect">
            <a:avLst>
              <a:gd name="adj" fmla="val 12307"/>
            </a:avLst>
          </a:prstGeom>
          <a:solidFill>
            <a:srgbClr val="0A11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81967"/>
            <a:ext cx="552450" cy="552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29925" y="1172467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TEAM-05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325885"/>
            <a:ext cx="11658600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Space Grotesk"/>
              </a:rPr>
              <a:t>Tracing a TCP/IP Communication:</a:t>
            </a:r>
            <a:r>
              <a:t>
</a:t>
            </a:r>
            <a:r>
              <a:rPr sz="3300" b="1" i="0" u="none">
                <a:solidFill>
                  <a:srgbClr val="00B4D8"/>
                </a:solidFill>
                <a:latin typeface="Space Grotesk"/>
              </a:rPr>
              <a:t>Opening a Secure Website (HTTPS)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445966"/>
            <a:ext cx="11658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A methodical layer-by-layer architectural analysis: </a:t>
            </a:r>
            <a:r>
              <a:rPr sz="1500" b="0" i="1" u="none">
                <a:solidFill>
                  <a:srgbClr val="CBD5E1"/>
                </a:solidFill>
                <a:latin typeface="Plus Jakarta Sans"/>
              </a:rPr>
              <a:t>"How does a single click become a secure web page?"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86239"/>
            <a:ext cx="42267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6581477"/>
            <a:ext cx="2971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B4D8"/>
                </a:solidFill>
                <a:latin typeface="JetBrains Mono"/>
              </a:rPr>
              <a:t>icdfa.edu.ng · Team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4685109"/>
            <a:ext cx="4179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STUDENT TEAM MEMBERS &amp; 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9325" y="4694634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Academic Session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1086742"/>
            <a:ext cx="68401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lus Jakarta Sans"/>
              </a:rPr>
              <a:t>INTERNATIONAL CYBERSECURITY &amp; DIGITAL FORENSICS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" y="5104209"/>
            <a:ext cx="2171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Emmanuel Adie Ushie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5313759"/>
            <a:ext cx="21717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C11/26/FCDF/17173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9969" y="5104209"/>
            <a:ext cx="2171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Abubakar Bello Sadiq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9969" y="5313759"/>
            <a:ext cx="21717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C11/26/FCDF/17161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6489" y="5104209"/>
            <a:ext cx="2171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Adeyemo Adetoye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6489" y="5313759"/>
            <a:ext cx="21717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C11/26/FCDF/17140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3008" y="5104209"/>
            <a:ext cx="2171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Nokukhanya Tenza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3008" y="5313759"/>
            <a:ext cx="21717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C11/26/FCDF/17149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9528" y="5104209"/>
            <a:ext cx="2171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Vugomi Rhulani Mathye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9528" y="5313759"/>
            <a:ext cx="217177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C11/26/FCDF/17157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90841" y="1571624"/>
            <a:ext cx="5243958" cy="4029075"/>
          </a:xfrm>
          <a:prstGeom prst="roundRect">
            <a:avLst>
              <a:gd name="adj" fmla="val 26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57275"/>
            <a:ext cx="5766941" cy="1181100"/>
          </a:xfrm>
          <a:prstGeom prst="roundRect">
            <a:avLst>
              <a:gd name="adj" fmla="val 6451"/>
            </a:avLst>
          </a:prstGeom>
          <a:solidFill>
            <a:srgbClr val="F0F9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352675"/>
            <a:ext cx="5766941" cy="1181100"/>
          </a:xfrm>
          <a:prstGeom prst="roundRect">
            <a:avLst>
              <a:gd name="adj" fmla="val 6451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648075"/>
            <a:ext cx="5766941" cy="1181100"/>
          </a:xfrm>
          <a:prstGeom prst="roundRect">
            <a:avLst>
              <a:gd name="adj" fmla="val 6451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4943475"/>
            <a:ext cx="5766941" cy="1181100"/>
          </a:xfrm>
          <a:prstGeom prst="roundRect">
            <a:avLst>
              <a:gd name="adj" fmla="val 6451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09916" y="2657475"/>
            <a:ext cx="480580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09916" y="3105150"/>
            <a:ext cx="480580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09916" y="3552825"/>
            <a:ext cx="480580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09916" y="4000500"/>
            <a:ext cx="480580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4491" y="1233487"/>
            <a:ext cx="809625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966841" y="2528887"/>
            <a:ext cx="1057275" cy="209550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1141" y="3824287"/>
            <a:ext cx="942975" cy="209550"/>
          </a:xfrm>
          <a:prstGeom prst="roundRect">
            <a:avLst>
              <a:gd name="adj" fmla="val 18181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19241" y="5119687"/>
            <a:ext cx="904875" cy="209550"/>
          </a:xfrm>
          <a:prstGeom prst="roundRect">
            <a:avLst>
              <a:gd name="adj" fmla="val 18181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09916" y="2657475"/>
            <a:ext cx="38100" cy="371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09916" y="3105150"/>
            <a:ext cx="38100" cy="3714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09916" y="3552825"/>
            <a:ext cx="38100" cy="3714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09916" y="4000500"/>
            <a:ext cx="38100" cy="37147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02 /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114300"/>
            <a:ext cx="50101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 smtClean="0">
                <a:solidFill>
                  <a:srgbClr val="0284C7"/>
                </a:solidFill>
                <a:latin typeface="Plus Jakarta Sans"/>
              </a:rPr>
              <a:t>ICDFA</a:t>
            </a:r>
            <a:endParaRPr lang="en-US" sz="900" b="1" i="0" u="none" dirty="0" smtClean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09916" y="2038350"/>
            <a:ext cx="548208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ARCHITECTURAL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9916" y="2305050"/>
            <a:ext cx="54820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1128"/>
                </a:solidFill>
                <a:latin typeface="Plus Jakarta Sans"/>
              </a:rPr>
              <a:t>Alignment with OSI 7-Layer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9916" y="4543425"/>
            <a:ext cx="490105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Key Distinction: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The TCP/IP model integrates session handling and presentation syntax directly into the Application layer, creating an efficient, implementation-driven networking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314325"/>
            <a:ext cx="64508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A1128"/>
                </a:solidFill>
                <a:latin typeface="Space Grotesk"/>
              </a:rPr>
              <a:t>The TCP/IP Model: Four Layers, One Job 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25" y="1495425"/>
            <a:ext cx="67086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"Prepares the message"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25" y="1714500"/>
            <a:ext cx="54621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Constructs the HTTP GET request, initiates TLS 1.3 session encryption, and runs DNS name lookups.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2790825"/>
            <a:ext cx="67086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"Gets it there reliably (or fast)"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" y="3009900"/>
            <a:ext cx="54621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Manages process ports (Source: 51342, Dest: 443), connection state, sequencing, and retransmission.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225" y="4086225"/>
            <a:ext cx="67086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"Finds the destination network"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225" y="4305300"/>
            <a:ext cx="54621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Attaches logical IP addresses (Src: 192.168.1.10, Dst: 93.184.216.34) enabling cross-network internet routing.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225" y="5381625"/>
            <a:ext cx="67086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"Moves the bits physically"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" y="5600700"/>
            <a:ext cx="54621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Encapsulates packets into Ethernet frames with physical MAC addresses across the local cable/Wi-Fi link.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225" y="1219200"/>
            <a:ext cx="20240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Application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9741" y="1262062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PDU: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" y="2514600"/>
            <a:ext cx="17859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Plus Jakarta Sans"/>
              </a:rPr>
              <a:t>Transport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62091" y="2557462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PDU: Segment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225" y="3810000"/>
            <a:ext cx="1607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C2410C"/>
                </a:solidFill>
                <a:latin typeface="Plus Jakarta Sans"/>
              </a:rPr>
              <a:t>Internet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6391" y="3852862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PDU: Packet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25" y="5105400"/>
            <a:ext cx="25836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E22CE"/>
                </a:solidFill>
                <a:latin typeface="Plus Jakarta Sans"/>
              </a:rPr>
              <a:t>Network Access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4491" y="5148262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PDU: Frame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1366" y="2752725"/>
            <a:ext cx="3464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Layers 7, 6, 5: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Application, Pres., Session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3225" y="2752725"/>
            <a:ext cx="1104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Application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81366" y="3200400"/>
            <a:ext cx="1571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Layer 4: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Transport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06100" y="3200400"/>
            <a:ext cx="9620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Transport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1366" y="3648075"/>
            <a:ext cx="1464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Layer 3: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Network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9925" y="3648075"/>
            <a:ext cx="838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Plus Jakarta Sans"/>
              </a:rPr>
              <a:t>Internet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1366" y="4095750"/>
            <a:ext cx="2809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Layers 2 &amp; 1: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Data Link &amp; Physical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9850" y="4095750"/>
            <a:ext cx="1440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333EA"/>
                </a:solidFill>
                <a:latin typeface="Plus Jakarta Sans"/>
              </a:rPr>
              <a:t>Network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43050"/>
            <a:ext cx="3606849" cy="4095750"/>
          </a:xfrm>
          <a:prstGeom prst="roundRect">
            <a:avLst>
              <a:gd name="adj" fmla="val 26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2649" y="1543050"/>
            <a:ext cx="3606849" cy="4095750"/>
          </a:xfrm>
          <a:prstGeom prst="roundRect">
            <a:avLst>
              <a:gd name="adj" fmla="val 26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28099" y="1543050"/>
            <a:ext cx="3606849" cy="4095750"/>
          </a:xfrm>
          <a:prstGeom prst="roundRect">
            <a:avLst>
              <a:gd name="adj" fmla="val 26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6292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43050"/>
            <a:ext cx="3606849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54524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275" y="4791075"/>
            <a:ext cx="3168699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2649" y="56292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2649" y="1543050"/>
            <a:ext cx="3606849" cy="47625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2649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9974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11724" y="4791075"/>
            <a:ext cx="3168699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28099" y="56292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8099" y="1543050"/>
            <a:ext cx="3606849" cy="47625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8099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725423" y="15430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47174" y="4791075"/>
            <a:ext cx="3168699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838325"/>
            <a:ext cx="457200" cy="457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724" y="1838325"/>
            <a:ext cx="457200" cy="457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7174" y="1838325"/>
            <a:ext cx="4572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962150"/>
            <a:ext cx="2095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1962150"/>
            <a:ext cx="26670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286" y="1962150"/>
            <a:ext cx="180975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03 /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114300"/>
            <a:ext cx="53054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Phase 1: Session Initiation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575" y="4905375"/>
            <a:ext cx="30353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369A1"/>
                </a:solidFill>
                <a:latin typeface="JetBrains Mono"/>
              </a:rPr>
              <a:t>PDU: DNS Query Message</a:t>
            </a:r>
            <a:r>
              <a:t>
</a:t>
            </a:r>
            <a:r>
              <a:rPr sz="1050" b="0" i="0" u="none">
                <a:solidFill>
                  <a:srgbClr val="0369A1"/>
                </a:solidFill>
                <a:latin typeface="JetBrains Mono"/>
              </a:rPr>
              <a:t> Transport: UDP / 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024" y="4905375"/>
            <a:ext cx="30353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77B6"/>
                </a:solidFill>
                <a:latin typeface="JetBrains Mono"/>
              </a:rPr>
              <a:t>PDU: Application Data</a:t>
            </a:r>
            <a:r>
              <a:t>
</a:t>
            </a:r>
            <a:r>
              <a:rPr sz="1050" b="0" i="0" u="none">
                <a:solidFill>
                  <a:srgbClr val="0077B6"/>
                </a:solidFill>
                <a:latin typeface="JetBrains Mono"/>
              </a:rPr>
              <a:t> Content: Plaintext HTTP 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1474" y="4905375"/>
            <a:ext cx="30353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3045E"/>
                </a:solidFill>
                <a:latin typeface="JetBrains Mono"/>
              </a:rPr>
              <a:t>Destination Port: 443</a:t>
            </a:r>
            <a:r>
              <a:t>
</a:t>
            </a:r>
            <a:r>
              <a:rPr sz="1050" b="0" i="0" u="none">
                <a:solidFill>
                  <a:srgbClr val="03045E"/>
                </a:solidFill>
                <a:latin typeface="JetBrains Mono"/>
              </a:rPr>
              <a:t> Payload: Encrypted TLS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550" y="314325"/>
            <a:ext cx="683835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Application Layer: Building the Secure 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75" y="2428875"/>
            <a:ext cx="41589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1. DNS 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275" y="2790825"/>
            <a:ext cx="3263949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A DNS query is transmitted using 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UDP Port 53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to resolve human-readable domains (e.g., portal.company.com) into numerical IP addresses before any connection begins.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1724" y="2428875"/>
            <a:ext cx="41589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2. HTTP GET Construction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1724" y="2790825"/>
            <a:ext cx="32639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The browser formats an HTTP/1.1 or HTTP/2 GET request string, assembling request headers, Host identifier, user-agent parameters, and expected MIME types.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7174" y="2428875"/>
            <a:ext cx="38448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3. TLS 1.3 Encryption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7174" y="2790825"/>
            <a:ext cx="32639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Before leaving the client, the application data is handed over to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TLS 1.3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for symmetric cryptographic encryption, transforming plaintext HTTP into secure HTTPS.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0400" y="247650"/>
            <a:ext cx="914400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6850"/>
            <a:ext cx="5505450" cy="3952875"/>
          </a:xfrm>
          <a:prstGeom prst="roundRect">
            <a:avLst>
              <a:gd name="adj" fmla="val 2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9350" y="1814512"/>
            <a:ext cx="5505450" cy="3552825"/>
          </a:xfrm>
          <a:prstGeom prst="roundRect">
            <a:avLst>
              <a:gd name="adj" fmla="val 26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5325" y="2647950"/>
            <a:ext cx="50292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5325" y="3409950"/>
            <a:ext cx="5029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5325" y="4343400"/>
            <a:ext cx="5029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67475" y="2700337"/>
            <a:ext cx="5029200" cy="7048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7475" y="3500437"/>
            <a:ext cx="5029200" cy="7048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67475" y="4300537"/>
            <a:ext cx="5029200" cy="828675"/>
          </a:xfrm>
          <a:prstGeom prst="roundRect">
            <a:avLst>
              <a:gd name="adj" fmla="val 689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67475" y="3395662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67475" y="2700337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67475" y="2700337"/>
            <a:ext cx="47625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87150" y="2700337"/>
            <a:ext cx="9525" cy="704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67475" y="4195762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67475" y="3500437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67475" y="3500437"/>
            <a:ext cx="47625" cy="7048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487150" y="3500437"/>
            <a:ext cx="9525" cy="704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601325" y="2847975"/>
            <a:ext cx="733425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96575" y="3648075"/>
            <a:ext cx="638175" cy="19050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15650" y="285750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04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" y="1143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Phase 2: Transport &amp; Network Packaging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5" y="2000250"/>
            <a:ext cx="6286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CONNECTION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325" y="2266950"/>
            <a:ext cx="66008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TCP 3-Way Handshake (Port 443)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7475" y="2052637"/>
            <a:ext cx="5724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HEADER ENCAPSULATION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2319337"/>
            <a:ext cx="57245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Headers Added During Packaging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314325"/>
            <a:ext cx="68008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Transport &amp; Internet Layers: Session &amp; Routing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3019425"/>
            <a:ext cx="5881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Client selects an Initial Sequence Number (ISN) and sends SYN flag set.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378142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Server acknowledges client ISN (ACK=ISN+1) and sends its own sequence number.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471487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Client acknowledges server sequence; reliable socket is ready for TLS exchange.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0" y="3081337"/>
            <a:ext cx="5524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Attaches Source Port (ephemeral 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51342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) &amp; Destination Port (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443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0" y="3881437"/>
            <a:ext cx="5524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Attaches Source IP (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192.168.1.10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) &amp; Destination IP (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93.184.216.34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9875" y="4414837"/>
            <a:ext cx="48196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Cross-Network Routing: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Routers across the internet examine only the Destination IP to forward the packet. The Transport port numbers and TLS payload remain untouched end-to-end.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2771775"/>
            <a:ext cx="1976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A1128"/>
                </a:solidFill>
                <a:latin typeface="Plus Jakarta Sans"/>
              </a:rPr>
              <a:t>1. SYN (Synchronize)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1975" y="2795587"/>
            <a:ext cx="1488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Client →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250" y="3533775"/>
            <a:ext cx="1238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A1128"/>
                </a:solidFill>
                <a:latin typeface="Plus Jakarta Sans"/>
              </a:rPr>
              <a:t>2. SYN-ACK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1975" y="3557587"/>
            <a:ext cx="1488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Server → 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250" y="4467225"/>
            <a:ext cx="21907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A1128"/>
                </a:solidFill>
                <a:latin typeface="Plus Jakarta Sans"/>
              </a:rPr>
              <a:t>3. ACK (Acknowledge)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1975" y="4491037"/>
            <a:ext cx="1488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Client → Server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7500" y="2843212"/>
            <a:ext cx="209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TCP Segment (Layer 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77525" y="2867025"/>
            <a:ext cx="676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Transport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500" y="3643312"/>
            <a:ext cx="1690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Plus Jakarta Sans"/>
              </a:rPr>
              <a:t>IP Packet (Layer 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72775" y="3667125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2410C"/>
                </a:solidFill>
                <a:latin typeface="Plus Jakarta Sans"/>
              </a:rPr>
              <a:t>Internet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876300"/>
            <a:ext cx="11277600" cy="3181350"/>
          </a:xfrm>
          <a:prstGeom prst="roundRect">
            <a:avLst>
              <a:gd name="adj" fmla="val 3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5905500"/>
            <a:ext cx="11277600" cy="400050"/>
          </a:xfrm>
          <a:prstGeom prst="roundRect">
            <a:avLst>
              <a:gd name="adj" fmla="val 1428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7225" y="2276475"/>
            <a:ext cx="108775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905500"/>
            <a:ext cx="47625" cy="400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225" y="2419350"/>
            <a:ext cx="5353050" cy="839985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7225" y="2276475"/>
            <a:ext cx="108775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7225" y="2419350"/>
            <a:ext cx="38100" cy="83998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81725" y="2419350"/>
            <a:ext cx="5353050" cy="839985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725" y="2419350"/>
            <a:ext cx="38100" cy="83998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1550" y="1962150"/>
            <a:ext cx="895350" cy="161925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55343" y="1962150"/>
            <a:ext cx="1028700" cy="161925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319146" y="1962150"/>
            <a:ext cx="904875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6019800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260" y="15240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682" y="1524000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354" y="1524000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776" y="1524000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198" y="1524000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5" y="1076325"/>
            <a:ext cx="457200" cy="457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046" y="1100137"/>
            <a:ext cx="457200" cy="457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093" y="1076325"/>
            <a:ext cx="4572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0140" y="1100137"/>
            <a:ext cx="457200" cy="4572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1562" y="1100137"/>
            <a:ext cx="457200" cy="4572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2984" y="1076325"/>
            <a:ext cx="457200" cy="4572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0162" y="1209675"/>
            <a:ext cx="23812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1584" y="1233487"/>
            <a:ext cx="23812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443" y="1209675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9678" y="1233487"/>
            <a:ext cx="23812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10625" y="1233487"/>
            <a:ext cx="21907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6334" y="1209675"/>
            <a:ext cx="1905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05 / 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" y="114300"/>
            <a:ext cx="69246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Topology &amp; Transit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075" y="6019800"/>
            <a:ext cx="11210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Return Path:</a:t>
            </a:r>
            <a:r>
              <a:rPr sz="1050" b="0" i="0" u="none">
                <a:solidFill>
                  <a:srgbClr val="0369A1"/>
                </a:solidFill>
                <a:latin typeface="Plus Jakarta Sans"/>
              </a:rPr>
              <a:t> The web server's TLS/HTTP response is encapsulated identically in reverse, routed across internet routers, and decapsulated by the client's browser.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" y="314325"/>
            <a:ext cx="896362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Original Packet Journey Diagram — Opening a Secure Website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625" y="2533650"/>
            <a:ext cx="5143500" cy="611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Sender Encapsulation 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4125" y="2533650"/>
            <a:ext cx="5143500" cy="611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Receiver Decapsulation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237" y="1590675"/>
            <a:ext cx="1323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Client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300" y="1771650"/>
            <a:ext cx="10858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192.168.1.10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875" y="1981200"/>
            <a:ext cx="1028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E40AF"/>
                </a:solidFill>
                <a:latin typeface="Plus Jakarta Sans"/>
              </a:rPr>
              <a:t>Encapsulation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7721" y="1614487"/>
            <a:ext cx="1085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LAN Switch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18184" y="1795462"/>
            <a:ext cx="13049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Layer 2 Forwarding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3434" y="1976437"/>
            <a:ext cx="11144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475569"/>
                </a:solidFill>
                <a:latin typeface="Plus Jakarta Sans"/>
              </a:rPr>
              <a:t>Reads Dest MAC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1506" y="1590675"/>
            <a:ext cx="1476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Default Gateway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6256" y="177165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192.168.1.1 (Router)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8668" y="1981200"/>
            <a:ext cx="11620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369A1"/>
                </a:solidFill>
                <a:latin typeface="Plus Jakarta Sans"/>
              </a:rPr>
              <a:t>Re-frames &amp; NAT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8665" y="1614487"/>
            <a:ext cx="1200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ISP / Internet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02003" y="1795462"/>
            <a:ext cx="1133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Transit Network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54390" y="1976437"/>
            <a:ext cx="10287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475569"/>
                </a:solidFill>
                <a:latin typeface="Plus Jakarta Sans"/>
              </a:rPr>
              <a:t>BGP IP Routing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29625" y="1614487"/>
            <a:ext cx="981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Dest. 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137" y="1795462"/>
            <a:ext cx="11620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Router &amp; Switch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7225" y="1976437"/>
            <a:ext cx="12858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475569"/>
                </a:solidFill>
                <a:latin typeface="Plus Jakarta Sans"/>
              </a:rPr>
              <a:t>Frame to Server NIC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3896" y="1590675"/>
            <a:ext cx="109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A1128"/>
                </a:solidFill>
                <a:latin typeface="Plus Jakarta Sans"/>
              </a:rPr>
              <a:t>Web Server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95309" y="1771650"/>
            <a:ext cx="1352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Port 443 (HTTPS)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2471" y="1981200"/>
            <a:ext cx="10382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5803D"/>
                </a:solidFill>
                <a:latin typeface="Plus Jakarta Sans"/>
              </a:rPr>
              <a:t>Decapsulation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7725" y="2771775"/>
            <a:ext cx="510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334155"/>
                </a:solidFill>
                <a:latin typeface="Plus Jakarta Sans"/>
              </a:rPr>
              <a:t>Data (TLS / HTTP GET) → TCP Segment (Port 51342 → 443) → IP Packet (192.168.1.10 → 93.184.216.34) → Ethernet Frame (PC MAC → Gateway MAC).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2225" y="2771775"/>
            <a:ext cx="510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NIC strips Ethernet Frame → IP Packet extracted &amp; destination confirmed → TCP segment reassembled → TLS payload decrypted into HTTP 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6850"/>
            <a:ext cx="5505450" cy="3838575"/>
          </a:xfrm>
          <a:prstGeom prst="roundRect">
            <a:avLst>
              <a:gd name="adj" fmla="val 2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9350" y="1466850"/>
            <a:ext cx="5505450" cy="3838575"/>
          </a:xfrm>
          <a:prstGeom prst="roundRect">
            <a:avLst>
              <a:gd name="adj" fmla="val 2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295900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7642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76425"/>
            <a:ext cx="47625" cy="3429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53125" y="187642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9350" y="5295900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9350" y="187642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9350" y="1876425"/>
            <a:ext cx="47625" cy="34290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725275" y="187642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3425" y="3333750"/>
            <a:ext cx="499110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425" y="4248150"/>
            <a:ext cx="499110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05575" y="3333750"/>
            <a:ext cx="499110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05575" y="4248150"/>
            <a:ext cx="499110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06 /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114300"/>
            <a:ext cx="56578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Phase 3: Local Hop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2114550"/>
            <a:ext cx="6238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LAYER 2 FRAMING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2381250"/>
            <a:ext cx="65508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Ethernet / Wi-Fi Framing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762250"/>
            <a:ext cx="508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The Network Access layer wraps the IP packet into an Ethernet frame containing local physical MAC addresses.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575" y="2114550"/>
            <a:ext cx="5686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77B6"/>
                </a:solidFill>
                <a:latin typeface="Plus Jakarta Sans"/>
              </a:rPr>
              <a:t>NEXT-HOP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575" y="2381250"/>
            <a:ext cx="56864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Address Resolution Protocol (ARP)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575" y="2762250"/>
            <a:ext cx="508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The client PC knows its Gateway IP (192.168.1.1) but requires its physical MAC address to transmit the frame over the wire.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314325"/>
            <a:ext cx="73009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Network Access Layer: Local Frame Delivery &amp; ARP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775" y="3448050"/>
            <a:ext cx="48196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A1128"/>
                </a:solidFill>
                <a:latin typeface="Plus Jakarta Sans"/>
              </a:rPr>
              <a:t>Hop-by-Hop Replacement: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775" y="4362450"/>
            <a:ext cx="48196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A1128"/>
                </a:solidFill>
                <a:latin typeface="Plus Jakarta Sans"/>
              </a:rPr>
              <a:t>Frame Check Sequence (FCS):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925" y="3448050"/>
            <a:ext cx="48196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A1128"/>
                </a:solidFill>
                <a:latin typeface="Plus Jakarta Sans"/>
              </a:rPr>
              <a:t>1. ARP Broadcast Request: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925" y="4362450"/>
            <a:ext cx="48196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A1128"/>
                </a:solidFill>
                <a:latin typeface="Plus Jakarta Sans"/>
              </a:rPr>
              <a:t>2. Unicast ARP Reply: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368617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MAC addresses are stripped and rebuilt at every router interface along the path while IP addresses remain constant.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460057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Cyclic Redundancy Check (CRC) validates that physical signals were not corrupted during physical transmission.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450" y="368617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64748B"/>
                </a:solidFill>
                <a:latin typeface="Plus Jakarta Sans"/>
              </a:rPr>
              <a:t>"Who has 192.168.1.1? Tell 192.168.1.10"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broadcast to all hosts on the LAN (FF:FF:FF:FF:FF:FF).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8450" y="4600575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Router responds with its MAC; client caches mapping in its local ARP table for immediate frame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39450" y="247650"/>
            <a:ext cx="895350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70"/>
              </p:ext>
            </p:extLst>
          </p:nvPr>
        </p:nvGraphicFramePr>
        <p:xfrm>
          <a:off x="457200" y="942975"/>
          <a:ext cx="11277598" cy="5314949"/>
        </p:xfrm>
        <a:graphic>
          <a:graphicData uri="http://schemas.openxmlformats.org/drawingml/2006/table">
            <a:tbl>
              <a:tblPr/>
              <a:tblGrid>
                <a:gridCol w="1349573"/>
                <a:gridCol w="1635918"/>
                <a:gridCol w="1267420"/>
                <a:gridCol w="2362646"/>
                <a:gridCol w="4662041"/>
              </a:tblGrid>
              <a:tr h="885824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PDU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Addressing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</a:tr>
              <a:tr h="88582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A1128"/>
                          </a:solidFill>
                          <a:latin typeface="Plus Jakarta Sans"/>
                        </a:rPr>
                        <a:t>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DNS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(message)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Domain name → IP address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Resolves website domain name to IP before anything else occurs.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582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A1128"/>
                          </a:solidFill>
                          <a:latin typeface="Plus Jakarta Sans"/>
                        </a:rPr>
                        <a:t>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HTTP over TLS (HTTPS)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(message)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None (relies on ports below)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Requests the web page and carries the encrypted response back from server.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8582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A1128"/>
                          </a:solidFill>
                          <a:latin typeface="Plus Jakarta Sans"/>
                        </a:rPr>
                        <a:t>Transport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Src: 51342 / Dst: 443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Reliable, ordered connection; opens session via 3-way handshake.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582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A1128"/>
                          </a:solidFill>
                          <a:latin typeface="Plus Jakarta Sans"/>
                        </a:rPr>
                        <a:t>Internet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Source IP / Destination 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Logical addressing &amp; routing — moves packets across internetworks.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8582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A1128"/>
                          </a:solidFill>
                          <a:latin typeface="Plus Jakarta Sans"/>
                        </a:rPr>
                        <a:t>Network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Ethernet / Wi-Fi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Frame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Source MAC / Destination MAC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Physical delivery across one local link; re-applied at every hop.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34700" y="285750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07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114300"/>
            <a:ext cx="56959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Protocol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4325"/>
            <a:ext cx="735091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Protocol Analysis Table: Opening a Secure Website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081213"/>
            <a:ext cx="5505450" cy="2914650"/>
          </a:xfrm>
          <a:prstGeom prst="roundRect">
            <a:avLst>
              <a:gd name="adj" fmla="val 3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9350" y="2071687"/>
            <a:ext cx="5505450" cy="3038475"/>
          </a:xfrm>
          <a:prstGeom prst="roundRect">
            <a:avLst>
              <a:gd name="adj" fmla="val 31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2443162"/>
            <a:ext cx="1323975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98633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8598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85987"/>
            <a:ext cx="47625" cy="2809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53125" y="2185987"/>
            <a:ext cx="9525" cy="2809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24625" y="2328862"/>
            <a:ext cx="1381125" cy="209550"/>
          </a:xfrm>
          <a:prstGeom prst="roundRect">
            <a:avLst>
              <a:gd name="adj" fmla="val 18181"/>
            </a:avLst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9350" y="510063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9350" y="2071687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9350" y="2071687"/>
            <a:ext cx="47625" cy="3038475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725275" y="2071687"/>
            <a:ext cx="9525" cy="3038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08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114300"/>
            <a:ext cx="37528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Addressing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471737"/>
            <a:ext cx="1228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LAYER 3 · LOGICAL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2767012"/>
            <a:ext cx="6500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Plus Jakarta Sans"/>
              </a:rPr>
              <a:t>IP Address (IPv4)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875" y="2357437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LAYER 2 · PHYSICAL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2652712"/>
            <a:ext cx="5667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Plus Jakarta Sans"/>
              </a:rPr>
              <a:t>MAC Address (Ethernet)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314325"/>
            <a:ext cx="4800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IP Addresses and MAC Addresses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3167062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Routable Globally: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Logical, software-assigned identifier that denotes exactly where a device sits on the global internetwork.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3719512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Static vs. Dynamic: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Manually assigned by a network engineer or dynamically leased on boot via DHCP protocol.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4271962"/>
            <a:ext cx="50482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Hierarchical Structure: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Split into Network portion and Host portion (e.g. 192.168.1.10 /24).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625" y="3052762"/>
            <a:ext cx="5048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Flat &amp; Non-Routable: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Physical hardware address burned directly into the Network Interface Card (NIC); meaningful only on the local segment.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625" y="3833812"/>
            <a:ext cx="50482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48-Bit Hex Format: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12 hexadecimal characters separated by colons (e.g. 00:1A:2B:3C:4D:5E).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4395787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OUI &amp; Device Identifier: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First 24 bits designate the vendor (OUI); remaining 24 bits designate the unique hardware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29925" y="247650"/>
            <a:ext cx="9048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4307681"/>
            <a:ext cx="112776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112168"/>
            <a:ext cx="3606849" cy="1985962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088606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12168"/>
            <a:ext cx="3606849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54524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2649" y="2112168"/>
            <a:ext cx="3606849" cy="1985962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47625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2649" y="4088606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2649" y="2112168"/>
            <a:ext cx="3606849" cy="47625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2649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9974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28099" y="2112168"/>
            <a:ext cx="3606849" cy="1985962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4762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8099" y="4088606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28099" y="2112168"/>
            <a:ext cx="3606849" cy="47625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8099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725423" y="2112168"/>
            <a:ext cx="9525" cy="19859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307681"/>
            <a:ext cx="47625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25175" y="285750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09 /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114300"/>
            <a:ext cx="33718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Process Multiplexing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2359818"/>
            <a:ext cx="3206799" cy="1490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Plus Jakarta Sans"/>
              </a:rPr>
              <a:t>Port 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0299" y="2359818"/>
            <a:ext cx="3206799" cy="1490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77B6"/>
                </a:solidFill>
                <a:latin typeface="Plus Jakarta Sans"/>
              </a:rPr>
              <a:t>Port 443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749" y="2359818"/>
            <a:ext cx="3206799" cy="1490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3045E"/>
                </a:solidFill>
                <a:latin typeface="Plus Jakarta Sans"/>
              </a:rPr>
              <a:t>Port 51342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4460081"/>
            <a:ext cx="10906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369A1"/>
                </a:solidFill>
                <a:latin typeface="Plus Jakarta Sans"/>
              </a:rPr>
              <a:t>Core Rule:</a:t>
            </a:r>
            <a:r>
              <a:rPr sz="1200" b="0" i="0" u="none">
                <a:solidFill>
                  <a:srgbClr val="0369A1"/>
                </a:solidFill>
                <a:latin typeface="Plus Jakarta Sans"/>
              </a:rPr>
              <a:t> Ports identify the specific </a:t>
            </a:r>
            <a:r>
              <a:rPr sz="1200" b="0" i="1" u="none">
                <a:solidFill>
                  <a:srgbClr val="0369A1"/>
                </a:solidFill>
                <a:latin typeface="Plus Jakarta Sans"/>
              </a:rPr>
              <a:t>application or service socket</a:t>
            </a:r>
            <a:r>
              <a:rPr sz="1200" b="0" i="0" u="none">
                <a:solidFill>
                  <a:srgbClr val="0369A1"/>
                </a:solidFill>
                <a:latin typeface="Plus Jakarta Sans"/>
              </a:rPr>
              <a:t> on a host — not the device itself. Finding the target computer is the IP address's job; delivering data to the exact browser tab or server daemon is the port number's job.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" y="314325"/>
            <a:ext cx="43005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Port Numbers in Our Scenario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375" y="2864643"/>
            <a:ext cx="405890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1128"/>
                </a:solidFill>
                <a:latin typeface="Plus Jakarta Sans"/>
              </a:rPr>
              <a:t>DNS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" y="3198018"/>
            <a:ext cx="31877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Resolves domain names to IP addresses. Operates primarily over UDP (or TCP for large zone transfers and query responses).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9824" y="2864643"/>
            <a:ext cx="405890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1128"/>
                </a:solidFill>
                <a:latin typeface="Plus Jakarta Sans"/>
              </a:rPr>
              <a:t>HTTPS (HTTP over TLS)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9824" y="3198018"/>
            <a:ext cx="31877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Encrypted, authenticated web traffic delivered over TCP, authenticated via X.509 server TLS certificates.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274" y="2864643"/>
            <a:ext cx="38067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1128"/>
                </a:solidFill>
                <a:latin typeface="Plus Jakarta Sans"/>
              </a:rPr>
              <a:t>Client Ephemeral 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274" y="3198018"/>
            <a:ext cx="31877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Dynamic client-side port chosen from the private range (49152–65535) to identify the specific browser process socket.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58500" y="247650"/>
            <a:ext cx="876300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076450"/>
            <a:ext cx="5505450" cy="3028950"/>
          </a:xfrm>
          <a:prstGeom prst="roundRect">
            <a:avLst>
              <a:gd name="adj" fmla="val 31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9350" y="2076450"/>
            <a:ext cx="5505450" cy="3028950"/>
          </a:xfrm>
          <a:prstGeom prst="roundRect">
            <a:avLst>
              <a:gd name="adj" fmla="val 31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0958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76450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76450"/>
            <a:ext cx="47625" cy="3028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53125" y="2076450"/>
            <a:ext cx="9525" cy="3028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9350" y="50958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9350" y="2076450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9350" y="2076450"/>
            <a:ext cx="47625" cy="302895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725275" y="2076450"/>
            <a:ext cx="9525" cy="3028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48250" y="2343150"/>
            <a:ext cx="676275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363200" y="2343150"/>
            <a:ext cx="1133475" cy="209550"/>
          </a:xfrm>
          <a:prstGeom prst="roundRect">
            <a:avLst>
              <a:gd name="adj" fmla="val 18181"/>
            </a:avLst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750" y="285750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10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114300"/>
            <a:ext cx="44672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Protocol Mechanics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314325"/>
            <a:ext cx="573821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Transport Layer: TCP vs UDP Mechanics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2314575"/>
            <a:ext cx="20127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TCP Mechanics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2371725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Reliable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26765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Layer 4 Scope: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Process-to-process communication managed via standardized port numbers.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31337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Connection-Oriented: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Opens session via three-way handshake (SYN → SYN-ACK → ACK) before sending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5909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Guaranteed Delivery: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Segmentation and reassembly with sequence numbers ensure correct ordering.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40481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Error Retransmission: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Automatically resends dropped packets upon timeout or missing acknowledgment.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25" y="45053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Flow Control: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Sliding window mechanisms prevent sender from overwhelming the receiver's buffer.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5575" y="2314575"/>
            <a:ext cx="20627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A1128"/>
                </a:solidFill>
                <a:latin typeface="Plus Jakarta Sans"/>
              </a:rPr>
              <a:t>UDP Mechanics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8450" y="2371725"/>
            <a:ext cx="1038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Connectionless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5575" y="26765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Instant Transmission: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Dispatches datagrams immediately with zero handshake setup or session state.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5575" y="31337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Best-Effort Delivery: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No acknowledgments; relies entirely on the application layer to handle loss.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5575" y="35909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No Ordering Guarantee: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Datagrams may arrive out-of-order or duplicate without protocol detection.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40481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Zero Retransmission: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Dropped datagrams are permanently ignored rather than queued.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4505325"/>
            <a:ext cx="508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Minimal Overhead: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8-byte header provides maximum throughput and minimal processing delay.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96600" y="247650"/>
            <a:ext cx="838200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898066"/>
              </p:ext>
            </p:extLst>
          </p:nvPr>
        </p:nvGraphicFramePr>
        <p:xfrm>
          <a:off x="457200" y="1285875"/>
          <a:ext cx="11277599" cy="4743451"/>
        </p:xfrm>
        <a:graphic>
          <a:graphicData uri="http://schemas.openxmlformats.org/drawingml/2006/table">
            <a:tbl>
              <a:tblPr/>
              <a:tblGrid>
                <a:gridCol w="1447800"/>
                <a:gridCol w="5123854"/>
                <a:gridCol w="4705945"/>
              </a:tblGrid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TCP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UDP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Connection-oriented — 3-way handshake (SYN, SYN-ACK, ACK) before data flows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Connectionless — no handshake, no session; sends immediately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Reliability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Reliable — lost segments are detected and retransmitted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Unreliable — no retransmission; the application must handle loss if it matters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Ordering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Guaranteed — sequence numbers reassemble data in the correct 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Not guaranteed — datagrams may arrive out of 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Flow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Yes — sliding window prevents overwhelming the receiver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Speed / overhead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Slower, higher overhead (headers + handshake + acknowledgments)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Faster, lower overhead (minimal header, no setup)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64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unit (PDU)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077B6"/>
                          </a:solidFill>
                          <a:latin typeface="Plus Jakarta Sans"/>
                        </a:rPr>
                        <a:t>Datagram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91850" y="285750"/>
            <a:ext cx="74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11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114300"/>
            <a:ext cx="51625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Protocol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4325"/>
            <a:ext cx="665083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TCP vs UDP: Comprehensive Comparison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68025" y="247650"/>
            <a:ext cx="8667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46182"/>
              </p:ext>
            </p:extLst>
          </p:nvPr>
        </p:nvGraphicFramePr>
        <p:xfrm>
          <a:off x="457200" y="1466850"/>
          <a:ext cx="11277599" cy="3624261"/>
        </p:xfrm>
        <a:graphic>
          <a:graphicData uri="http://schemas.openxmlformats.org/drawingml/2006/table">
            <a:tbl>
              <a:tblPr/>
              <a:tblGrid>
                <a:gridCol w="904875"/>
                <a:gridCol w="1905000"/>
                <a:gridCol w="1193452"/>
                <a:gridCol w="7274272"/>
              </a:tblGrid>
              <a:tr h="1208087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Application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Application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Why this protocol fits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</a:tr>
              <a:tr h="1208087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Web browsing (HTTPS, port 443)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Email (SMTP)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The full page or message must arrive complete and in order — dropped, out-of-order, or scrambled data is completely unacceptable in financial documents or source code.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08087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077B6"/>
                          </a:solidFill>
                          <a:latin typeface="Plus Jakarta Sans"/>
                        </a:rPr>
                        <a:t>UDP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Live video/voice calls (e.g. VoIP)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DNS lookups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Speed and freshness matter more than perfect delivery — a late retransmission is worse than a small gap in live audio, and DNS can simply retry if a query packet drops.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963275" y="2857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12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114300"/>
            <a:ext cx="46196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Real-World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14325"/>
            <a:ext cx="593824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Transport Protocol Application Examples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81012" y="5138737"/>
            <a:ext cx="5553075" cy="838200"/>
            <a:chOff x="457200" y="4300537"/>
            <a:chExt cx="5553075" cy="838200"/>
          </a:xfrm>
        </p:grpSpPr>
        <p:sp>
          <p:nvSpPr>
            <p:cNvPr id="7" name="Rounded Rectangle 6"/>
            <p:cNvSpPr/>
            <p:nvPr/>
          </p:nvSpPr>
          <p:spPr>
            <a:xfrm>
              <a:off x="457200" y="4300537"/>
              <a:ext cx="5553075" cy="838200"/>
            </a:xfrm>
            <a:prstGeom prst="roundRect">
              <a:avLst>
                <a:gd name="adj" fmla="val 9090"/>
              </a:avLst>
            </a:prstGeom>
            <a:solidFill>
              <a:srgbClr val="F0F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8650" y="4433887"/>
              <a:ext cx="5305425" cy="571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 u="none">
                  <a:solidFill>
                    <a:srgbClr val="0369A1"/>
                  </a:solidFill>
                  <a:latin typeface="Plus Jakarta Sans"/>
                </a:rPr>
                <a:t>TCP Design Priority: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6275" y="4662487"/>
              <a:ext cx="5257800" cy="342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 dirty="0">
                  <a:solidFill>
                    <a:srgbClr val="334155"/>
                  </a:solidFill>
                  <a:latin typeface="Plus Jakarta Sans"/>
                </a:rPr>
                <a:t>Guarantees 100% data integrity and strict packet sequencing over low transmission latency.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81725" y="5154162"/>
            <a:ext cx="5553075" cy="838200"/>
            <a:chOff x="6181725" y="4300537"/>
            <a:chExt cx="5553075" cy="838200"/>
          </a:xfrm>
        </p:grpSpPr>
        <p:grpSp>
          <p:nvGrpSpPr>
            <p:cNvPr id="23" name="Group 22"/>
            <p:cNvGrpSpPr/>
            <p:nvPr/>
          </p:nvGrpSpPr>
          <p:grpSpPr>
            <a:xfrm>
              <a:off x="6181725" y="4300537"/>
              <a:ext cx="5553075" cy="838200"/>
              <a:chOff x="6181725" y="4300537"/>
              <a:chExt cx="5553075" cy="83820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6181725" y="4300537"/>
                <a:ext cx="5553075" cy="838200"/>
              </a:xfrm>
              <a:prstGeom prst="roundRect">
                <a:avLst>
                  <a:gd name="adj" fmla="val 9090"/>
                </a:avLst>
              </a:prstGeom>
              <a:solidFill>
                <a:srgbClr val="F0FD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181725" y="4300537"/>
                <a:ext cx="47625" cy="838200"/>
              </a:xfrm>
              <a:prstGeom prst="rect">
                <a:avLst/>
              </a:prstGeom>
              <a:solidFill>
                <a:srgbClr val="16A3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353175" y="4433887"/>
                <a:ext cx="5305425" cy="5715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15803D"/>
                    </a:solidFill>
                    <a:latin typeface="Plus Jakarta Sans"/>
                  </a:rPr>
                  <a:t>UDP Design Priority:</a:t>
                </a: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6400800" y="4662487"/>
              <a:ext cx="5257800" cy="342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334155"/>
                  </a:solidFill>
                  <a:latin typeface="Plus Jakarta Sans"/>
                </a:rPr>
                <a:t>Guarantees lowest possible latency and minimal processing overhead for real-time streaming.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68025" y="247650"/>
            <a:ext cx="8667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185987"/>
            <a:ext cx="4881562" cy="2752725"/>
          </a:xfrm>
          <a:prstGeom prst="roundRect">
            <a:avLst>
              <a:gd name="adj" fmla="val 353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4375" y="2462212"/>
            <a:ext cx="1200150" cy="200025"/>
          </a:xfrm>
          <a:prstGeom prst="roundRect">
            <a:avLst>
              <a:gd name="adj" fmla="val 19047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929187"/>
            <a:ext cx="4881562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243137"/>
            <a:ext cx="4881562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43137"/>
            <a:ext cx="47625" cy="2695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29237" y="2243137"/>
            <a:ext cx="9525" cy="269557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4375" y="3986212"/>
            <a:ext cx="4405312" cy="73342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67362" y="2185987"/>
            <a:ext cx="6167437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567362" y="2605087"/>
            <a:ext cx="6167437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67362" y="3024187"/>
            <a:ext cx="6167437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67362" y="3443287"/>
            <a:ext cx="6167437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67362" y="3862387"/>
            <a:ext cx="6167437" cy="342900"/>
          </a:xfrm>
          <a:prstGeom prst="roundRect">
            <a:avLst>
              <a:gd name="adj" fmla="val 1666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67362" y="4281487"/>
            <a:ext cx="6167437" cy="714375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67362" y="4281487"/>
            <a:ext cx="38100" cy="714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67362" y="2185987"/>
            <a:ext cx="38100" cy="342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67362" y="2605087"/>
            <a:ext cx="38100" cy="342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67362" y="3024187"/>
            <a:ext cx="38100" cy="342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67362" y="3443287"/>
            <a:ext cx="38100" cy="342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67362" y="3862387"/>
            <a:ext cx="38100" cy="3429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775" y="2300287"/>
            <a:ext cx="10477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725" y="2719387"/>
            <a:ext cx="10477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5" y="3138487"/>
            <a:ext cx="10477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5" y="3557587"/>
            <a:ext cx="10477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3976687"/>
            <a:ext cx="95250" cy="1238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63275" y="2857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13 /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114300"/>
            <a:ext cx="56769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Troubleshooting &amp;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575" y="2490787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OBSERVED 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75" y="2757487"/>
            <a:ext cx="57819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Plus Jakarta Sans"/>
              </a:rPr>
              <a:t>NET::ERR_CERT_DATE_INVALID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375" y="3081337"/>
            <a:ext cx="4500562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7F1D1D"/>
                </a:solidFill>
                <a:latin typeface="Plus Jakarta Sans"/>
              </a:rPr>
              <a:t>An employee accesses https://portal.company.com and the browser blocks entry: </a:t>
            </a:r>
            <a:r>
              <a:rPr sz="1050" b="0" i="1" u="none">
                <a:solidFill>
                  <a:srgbClr val="7F1D1D"/>
                </a:solidFill>
                <a:latin typeface="Plus Jakarta Sans"/>
              </a:rPr>
              <a:t>"Your connection is not private"</a:t>
            </a:r>
            <a:r>
              <a:rPr sz="1050" b="0" i="0" u="none">
                <a:solidFill>
                  <a:srgbClr val="7F1D1D"/>
                </a:solidFill>
                <a:latin typeface="Plus Jakarta Sans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375" y="3586162"/>
            <a:ext cx="45005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Plus Jakarta Sans"/>
              </a:rPr>
              <a:t>The underlying LAN connection is fully operational — standard web traffic and email continue to function normally.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4081462"/>
            <a:ext cx="4271962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Plus Jakarta Sans"/>
              </a:rPr>
              <a:t>Diagnostic Goal: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0712" y="4376737"/>
            <a:ext cx="599598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Remediation: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550" y="314325"/>
            <a:ext cx="732591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Troubleshooting Failure: Methodical TLS Diagnosis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310062"/>
            <a:ext cx="42529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Isolate the exact failing layer methodically using standard networking tools rather than guessing.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8812" y="2271712"/>
            <a:ext cx="1238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1. Physical 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91775" y="2281237"/>
            <a:ext cx="1512093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ip link / ifconfig 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38812" y="2690812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2. IP Connectivity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91725" y="2700337"/>
            <a:ext cx="2012156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ping default gateway 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8812" y="3109912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3. DNS Resolution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3625" y="3119437"/>
            <a:ext cx="2059781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nslookup resolves valid 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38812" y="3529012"/>
            <a:ext cx="1583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4. Port Reachability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3625" y="3538537"/>
            <a:ext cx="2059781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telnet / nc port 443 OPEN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38812" y="3948112"/>
            <a:ext cx="1916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5. TLS Handshake Probe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6900" y="3957637"/>
            <a:ext cx="2643187" cy="1524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Plus Jakarta Sans"/>
              </a:rPr>
              <a:t>openssl s_client reports EXPIRED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38812" y="4595812"/>
            <a:ext cx="59578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5803D"/>
                </a:solidFill>
                <a:latin typeface="Plus Jakarta Sans"/>
              </a:rPr>
              <a:t>Re-issue TLS certificate through trusted CA, bind full certificate chain on the web server daemon, reload the service, and verify via OpenSSL.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23900"/>
            <a:ext cx="1219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58500" y="247650"/>
            <a:ext cx="876300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43162"/>
            <a:ext cx="4664124" cy="2295525"/>
          </a:xfrm>
          <a:prstGeom prst="roundRect">
            <a:avLst>
              <a:gd name="adj" fmla="val 41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49924" y="2052637"/>
            <a:ext cx="6384875" cy="3076575"/>
          </a:xfrm>
          <a:prstGeom prst="roundRect">
            <a:avLst>
              <a:gd name="adj" fmla="val 30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89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8175" y="2976562"/>
            <a:ext cx="4302174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8175" y="3395662"/>
            <a:ext cx="4302174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8175" y="3814762"/>
            <a:ext cx="4302174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" y="4233862"/>
            <a:ext cx="4302174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175" y="2976562"/>
            <a:ext cx="38100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175" y="3395662"/>
            <a:ext cx="38100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175" y="3814762"/>
            <a:ext cx="38100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175" y="4233862"/>
            <a:ext cx="38100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25"/>
            <a:ext cx="400050" cy="4000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33415"/>
              </p:ext>
            </p:extLst>
          </p:nvPr>
        </p:nvGraphicFramePr>
        <p:xfrm>
          <a:off x="5530899" y="2566987"/>
          <a:ext cx="6022924" cy="2381250"/>
        </p:xfrm>
        <a:graphic>
          <a:graphicData uri="http://schemas.openxmlformats.org/drawingml/2006/table">
            <a:tbl>
              <a:tblPr/>
              <a:tblGrid>
                <a:gridCol w="1280517"/>
                <a:gridCol w="1446609"/>
                <a:gridCol w="3295798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Assigned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Completed Work &amp; Evidence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12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Emmanuel Ushie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Team Lead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Abubakar Sadiq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1" i="0" u="none" dirty="0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Adeyemo Adetoye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1" i="0" u="none" dirty="0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Nokukhanya Tenza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1" i="0" u="none" dirty="0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Vugomi Mathye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1" i="0" u="none" dirty="0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75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953750" y="285750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Slide 14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77012"/>
            <a:ext cx="4405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International Cybersecurity and Digital Forensics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400" y="65722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icdfa.edu.ng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114300"/>
            <a:ext cx="48863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Deliverables 7 &amp;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175" y="2624137"/>
            <a:ext cx="56466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A1128"/>
                </a:solidFill>
                <a:latin typeface="Plus Jakarta Sans"/>
              </a:rPr>
              <a:t>Authoritative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0899" y="2233612"/>
            <a:ext cx="6661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A1128"/>
                </a:solidFill>
                <a:latin typeface="Plus Jakarta Sans"/>
              </a:rPr>
              <a:t>Team Member Contribution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314325"/>
            <a:ext cx="628828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128"/>
                </a:solidFill>
                <a:latin typeface="Space Grotesk"/>
              </a:rPr>
              <a:t>Technical References &amp; Team Contributions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2976562"/>
            <a:ext cx="52110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1128"/>
                </a:solidFill>
                <a:latin typeface="Plus Jakarta Sans"/>
              </a:rPr>
              <a:t>IETF RFC 8446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3148012"/>
            <a:ext cx="52110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The Transport Layer Security (TLS) Protocol Version 1.3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3395662"/>
            <a:ext cx="52110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1128"/>
                </a:solidFill>
                <a:latin typeface="Plus Jakarta Sans"/>
              </a:rPr>
              <a:t>IETF RFC 793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3567112"/>
            <a:ext cx="52110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Transmission Control Protocol (TCP) Specification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3814762"/>
            <a:ext cx="52110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1128"/>
                </a:solidFill>
                <a:latin typeface="Plus Jakarta Sans"/>
              </a:rPr>
              <a:t>Cisco Networking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3986212"/>
            <a:ext cx="52110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CCNA Routing &amp; Switching: Introduction to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4233862"/>
            <a:ext cx="52110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1128"/>
                </a:solidFill>
                <a:latin typeface="Plus Jakarta Sans"/>
              </a:rPr>
              <a:t>ICDFA Network Security Fundamentals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4405312"/>
            <a:ext cx="52110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Module 03: Network Devices, Media, Ethernet and ARP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2037</Words>
  <Application>Microsoft Office PowerPoint</Application>
  <PresentationFormat>Widescreen</PresentationFormat>
  <Paragraphs>314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JetBrains Mono</vt:lpstr>
      <vt:lpstr>Plus Jakarta Sans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2026-10-01T12:00:54Z</dcterms:modified>
  <cp:category/>
</cp:coreProperties>
</file>